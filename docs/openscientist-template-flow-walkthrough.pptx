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4882aa07ff4044" /><Relationship Type="http://schemas.openxmlformats.org/officeDocument/2006/relationships/extended-properties" Target="/docProps/app.xml" Id="Recbdc8656985425b" /><Relationship Type="http://schemas.openxmlformats.org/officeDocument/2006/relationships/officeDocument" Target="/ppt/presentation.xml" Id="Rcaae504daef543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67866cee14fdb"/>
  </p:sldMasterIdLst>
  <p:notesMasterIdLst>
    <p:notesMasterId xmlns:r="http://schemas.openxmlformats.org/officeDocument/2006/relationships" r:id="Red5d1e29c0d84f88"/>
  </p:notesMasterIdLst>
  <p:sldIdLst>
    <p:sldId xmlns:r="http://schemas.openxmlformats.org/officeDocument/2006/relationships" id="256" r:id="R6d2f642c34964e2a"/>
    <p:sldId xmlns:r="http://schemas.openxmlformats.org/officeDocument/2006/relationships" id="257" r:id="Rdd06dd31bd424965"/>
    <p:sldId xmlns:r="http://schemas.openxmlformats.org/officeDocument/2006/relationships" id="258" r:id="R79bdd1f136964929"/>
    <p:sldId xmlns:r="http://schemas.openxmlformats.org/officeDocument/2006/relationships" id="259" r:id="Rbfa94a6fae9c4fa3"/>
    <p:sldId xmlns:r="http://schemas.openxmlformats.org/officeDocument/2006/relationships" id="260" r:id="R2eacbf75638a4452"/>
    <p:sldId xmlns:r="http://schemas.openxmlformats.org/officeDocument/2006/relationships" id="261" r:id="Rbd36f0b2aee143e1"/>
    <p:sldId xmlns:r="http://schemas.openxmlformats.org/officeDocument/2006/relationships" id="262" r:id="R901eeb9b76b64e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67866cee14fdb" /><Relationship Type="http://schemas.openxmlformats.org/officeDocument/2006/relationships/theme" Target="/ppt/theme/theme1.xml" Id="R3cbff7df4e7a46d0" /><Relationship Type="http://schemas.openxmlformats.org/officeDocument/2006/relationships/notesMaster" Target="/ppt/notesMasters/notesMaster1.xml" Id="Red5d1e29c0d84f88" /><Relationship Type="http://schemas.openxmlformats.org/officeDocument/2006/relationships/presProps" Target="/ppt/presProps.xml" Id="R6e517a08e69d41a8" /><Relationship Type="http://schemas.openxmlformats.org/officeDocument/2006/relationships/viewProps" Target="/ppt/viewProps.xml" Id="R6215c3117c164083" /><Relationship Type="http://schemas.openxmlformats.org/officeDocument/2006/relationships/tableStyles" Target="/ppt/tableStyles.xml" Id="R447245409bc644ed" /><Relationship Type="http://schemas.openxmlformats.org/officeDocument/2006/relationships/slide" Target="/ppt/slides/slide1.xml" Id="R6d2f642c34964e2a" /><Relationship Type="http://schemas.openxmlformats.org/officeDocument/2006/relationships/slide" Target="/ppt/slides/slide2.xml" Id="Rdd06dd31bd424965" /><Relationship Type="http://schemas.openxmlformats.org/officeDocument/2006/relationships/slide" Target="/ppt/slides/slide3.xml" Id="R79bdd1f136964929" /><Relationship Type="http://schemas.openxmlformats.org/officeDocument/2006/relationships/slide" Target="/ppt/slides/slide4.xml" Id="Rbfa94a6fae9c4fa3" /><Relationship Type="http://schemas.openxmlformats.org/officeDocument/2006/relationships/slide" Target="/ppt/slides/slide5.xml" Id="R2eacbf75638a4452" /><Relationship Type="http://schemas.openxmlformats.org/officeDocument/2006/relationships/slide" Target="/ppt/slides/slide6.xml" Id="Rbd36f0b2aee143e1" /><Relationship Type="http://schemas.openxmlformats.org/officeDocument/2006/relationships/slide" Target="/ppt/slides/slide7.xml" Id="R901eeb9b76b6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51bc7567c1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a0db13f8b4f5b" /><Relationship Type="http://schemas.openxmlformats.org/officeDocument/2006/relationships/notesMaster" Target="/ppt/notesMasters/notesMaster1.xml" Id="R9f6423a6fe76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ac25f5e0214d73" /><Relationship Type="http://schemas.openxmlformats.org/officeDocument/2006/relationships/notesMaster" Target="/ppt/notesMasters/notesMaster1.xml" Id="Redf3a9309c3a45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e0a2f927f4806" /><Relationship Type="http://schemas.openxmlformats.org/officeDocument/2006/relationships/notesMaster" Target="/ppt/notesMasters/notesMaster1.xml" Id="R55af6d6da4af49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18af146ad343d8" /><Relationship Type="http://schemas.openxmlformats.org/officeDocument/2006/relationships/notesMaster" Target="/ppt/notesMasters/notesMaster1.xml" Id="R82b904db719e48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f37c203c0b4f74" /><Relationship Type="http://schemas.openxmlformats.org/officeDocument/2006/relationships/notesMaster" Target="/ppt/notesMasters/notesMaster1.xml" Id="R011c4a202c7d46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ed6e232f694ca5" /><Relationship Type="http://schemas.openxmlformats.org/officeDocument/2006/relationships/notesMaster" Target="/ppt/notesMasters/notesMaster1.xml" Id="Ra351e75d8ea74a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881d2e0f924d76" /><Relationship Type="http://schemas.openxmlformats.org/officeDocument/2006/relationships/notesMaster" Target="/ppt/notesMasters/notesMaster1.xml" Id="R7a5a2635f93843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5bd151455415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0bc2f4fc96e4d4e" /><Relationship Type="http://schemas.openxmlformats.org/officeDocument/2006/relationships/slideLayout" Target="/ppt/slideLayouts/slideLayout2.xml" Id="R904746bdb24d4f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746bdb24d4f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13f539157a4a47" /><Relationship Type="http://schemas.openxmlformats.org/officeDocument/2006/relationships/image" Target="/ppt/media/image.png" Id="R59c3da47a85a4cef" /><Relationship Type="http://schemas.openxmlformats.org/officeDocument/2006/relationships/image" Target="/ppt/media/image2.png" Id="Reda84a4ffb124c6f" /><Relationship Type="http://schemas.openxmlformats.org/officeDocument/2006/relationships/image" Target="/ppt/media/image3.png" Id="R1c35ceb039ff44db" /><Relationship Type="http://schemas.openxmlformats.org/officeDocument/2006/relationships/notesSlide" Target="/ppt/notesSlides/notesSlide1.xml" Id="R1346bfae106549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8dea436dd4e1c" /><Relationship Type="http://schemas.openxmlformats.org/officeDocument/2006/relationships/image" Target="/ppt/media/image4.png" Id="Ra60ab610f1c54b0c" /><Relationship Type="http://schemas.openxmlformats.org/officeDocument/2006/relationships/notesSlide" Target="/ppt/notesSlides/notesSlide2.xml" Id="Rab6b32d5f5e747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87b3aab5c54e83" /><Relationship Type="http://schemas.openxmlformats.org/officeDocument/2006/relationships/image" Target="/ppt/media/image5.png" Id="R9ee2bef8856846ea" /><Relationship Type="http://schemas.openxmlformats.org/officeDocument/2006/relationships/notesSlide" Target="/ppt/notesSlides/notesSlide3.xml" Id="Rb3afa3a19be740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da26d570644e3" /><Relationship Type="http://schemas.openxmlformats.org/officeDocument/2006/relationships/image" Target="/ppt/media/image6.png" Id="R49b7e03bafe5429c" /><Relationship Type="http://schemas.openxmlformats.org/officeDocument/2006/relationships/notesSlide" Target="/ppt/notesSlides/notesSlide4.xml" Id="Rb5047372af414f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33142cbf34313" /><Relationship Type="http://schemas.openxmlformats.org/officeDocument/2006/relationships/image" Target="/ppt/media/image7.png" Id="R96372bbcba134046" /><Relationship Type="http://schemas.openxmlformats.org/officeDocument/2006/relationships/notesSlide" Target="/ppt/notesSlides/notesSlide5.xml" Id="Rfe32f34053964e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2643032f84964" /><Relationship Type="http://schemas.openxmlformats.org/officeDocument/2006/relationships/image" Target="/ppt/media/image8.png" Id="R2aab89a7a7684db3" /><Relationship Type="http://schemas.openxmlformats.org/officeDocument/2006/relationships/notesSlide" Target="/ppt/notesSlides/notesSlide6.xml" Id="R1751b56d4de941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7c93cd27174473" /><Relationship Type="http://schemas.openxmlformats.org/officeDocument/2006/relationships/notesSlide" Target="/ppt/notesSlides/notesSlide7.xml" Id="R62376fd675114b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EAFF52-9F64-4CA6-9626-B2D431D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44B0924-5FD0-4086-97C4-166E071A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5844381-CA45-45DB-A8BB-C20E657C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LOCAL PRODUCT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A2603-D22E-496C-B6FE-E5EFC5C9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09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Guided templates make OpenScientist jobs easier to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8BEC5-7344-41D9-9413-59EA1128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571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new /new flow preserves freeform discovery while adding structured scientific workflows. This walkthrough uses Gene Set Enrichment with a 2-iteration test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BDCC-8FB1-4C13-9933-55E9741B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B371F-FF51-4C03-8975-99B86B6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screenshots captured from localhost:8080/new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A2FAD-0979-4670-AD53-13EB2386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90875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8AF45-D7A0-4B84-A6F5-45E889ED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67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iterations used for enrichment workflow 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46EFC-6EF6-428B-811C-11B699B4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90875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CE11F-0DEE-4D94-AF83-3C6244D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67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guided workflow families in the template 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39F8-43DF-4745-878A-1FC13568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619125"/>
            <a:ext cx="44767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3da47a85a4cef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838200"/>
            <a:ext cx="1952625" cy="24003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84a4ffb124c6f"/>
          <a:srcRect xmlns:a="http://schemas.openxmlformats.org/drawingml/2006/main" l="18929" t="0" r="189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6375" y="838200"/>
            <a:ext cx="1952625" cy="24003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5ceb039ff44db"/>
          <a:srcRect xmlns:a="http://schemas.openxmlformats.org/drawingml/2006/main" l="0" t="25722" r="0" b="25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3381375"/>
            <a:ext cx="3000375" cy="1790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570DE-2331-44F2-9501-6394651B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34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Evidence-led deck: screenshots are the primary artifact, with notes explaining the product and runtime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1C989-232C-48F6-964B-881D0742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7FE33-2E46-4C1A-A3CF-EB48728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OpenScientist template walkthrough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85181-FA3D-42AE-B117-A941A6A5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91834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29D6B-6A69-4B98-8B29-AC41657A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C5C156-346C-42A7-A64B-A6E49FEA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E778FB-B09A-4779-B8CB-279ADB01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STAGE 1 - ENTRY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B0A41-C21E-4E5A-8149-346E5403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81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form still starts as a familiar freeform job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24DA1-6E3A-4829-9105-399148EB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810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Templates are optional. The existing research-question experience stays intact, which lowers adoption risk for users who already know what they want to 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0CC61-7F58-4480-A239-D3455AA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C2258-0974-4725-B137-750B26AD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552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selector is the new entry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F31D2-7CBC-490F-A069-C46084D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Freeform remains the default, while guided workflows are one dropdown away.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03CE7-E948-4294-B033-278F67DA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1AE30-A6D3-4D0A-B51E-8CDBF12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552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Existing controls remain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41B11-07C4-4917-A04F-257EB786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Uploads, max iterations, hypothesis generation, and coinvestigation stay in the same job creation surface.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DC3AB-2CB5-4132-B3F6-D2A70E11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FAC49-0E4D-43D2-B505-78054434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552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 experience 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86718-B6DF-45AC-8021-065F24F4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Add scientific scaffolding without making the fast path feel heavier.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29816-DCA5-4889-A4B5-B6A25929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62000"/>
            <a:ext cx="5086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ab610f1c54b0c"/>
          <a:stretch xmlns:a="http://schemas.openxmlformats.org/drawingml/2006/main"/>
        </p:blipFill>
        <p:spPr>
          <a:xfrm xmlns:a="http://schemas.openxmlformats.org/drawingml/2006/main">
            <a:off x="6096000" y="805524"/>
            <a:ext cx="5048250" cy="3856302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E1A33-68AB-4A62-8D4E-7F499555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DC149-5EE6-4DA0-9BD2-4C06E1DA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672"/>
                </a:solidFill>
                <a:latin typeface="Aptos"/>
                <a:ea typeface="Aptos"/>
                <a:cs typeface="Aptos"/>
              </a:rPr>
              <a:t>Freeform default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93A55-4173-41C7-8D3C-01CE92DD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CB1E2-284D-4E09-A8E1-57182F19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2FBA9-6810-4BA5-A7DA-30B28C8D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C8747-AD67-4AF0-B5B1-9FCF565B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6462D-7457-406A-8EE9-DBA84B99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649EC-A2B2-4574-A722-78669378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2A11E-B1F6-48B3-A807-A942E854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2BB5F-2C3E-4E20-8E84-71C802D0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65F04F-1BBB-457C-9C2A-D3EFFC1A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B43FE-0EFA-483B-944A-549FB1AA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Iterations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506A7-F4F5-4197-8442-FAB5A114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D88F3F-3955-4468-A6BE-3C7FF053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2F2DAF-E673-45D3-9418-34568C98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CB4104-5774-4661-8EC2-EB542953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OpenScientist template walkthrough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FDAC3C-1312-4987-84A2-55FDC372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82253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961D4-A96B-4A4E-92BA-E5FE226B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729805-D748-42CD-AA30-D8679228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7415A9-8966-4E33-AF46-6EA9F7C7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STAGE 2 - TEMPLATE SELECTED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7F976-3D88-419D-A5DD-7E77D70F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576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workflow selection expands into method-specific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658AE-0524-4573-AE1E-4C5FF172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500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Gene Set Enrichment asks for the inputs that determine statistical validity before the agent starts interpreting biology.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D9C95-92B0-4818-9667-AC8306C9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4371975" cy="303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2bef8856846ea"/>
          <a:srcRect xmlns:a="http://schemas.openxmlformats.org/drawingml/2006/main" l="0" t="21838" r="0" b="21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381250"/>
            <a:ext cx="4333875" cy="3000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E97DF-A433-4779-B23E-B1FFA9C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578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6B2BE-4A67-4503-9D81-5EF3319B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672"/>
                </a:solidFill>
                <a:latin typeface="Aptos"/>
                <a:ea typeface="Aptos"/>
                <a:cs typeface="Aptos"/>
              </a:rPr>
              <a:t>Gene Set Enrichment template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AE0EC-97C4-437C-A6B8-300480A5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6C461-B959-48E6-8E5A-576C977F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14600"/>
            <a:ext cx="464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Foreground and background sets are explicit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32B15-1B44-412B-B3CD-B12B77B3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464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workflow captures the test set and the universe needed for defensible enrichment statistics.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4BB6C-B14F-49E3-93F1-7B20DBA0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E50B4-E2FE-4973-92D9-DE18AD2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464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Database choice becomes part of the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A74E8-9B35-4995-B147-162FEEEE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464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GO, KEGG, Reactome, or auto-select are normalized into structured template inputs.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6253D-B16A-4922-8717-142229E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F8B83-5A4D-4A28-B64A-98EAA786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464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guardrails start 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65B93-472A-424D-ACC6-4B6A96E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464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template later instructs the runtime to run deterministic enrichment before interpretation.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0C422-DF36-4F6F-803D-8DB3C398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DD686-388B-474C-B0CD-A88E2193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Freeform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62F51-2200-42D0-9A2D-F181F1E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2CD0F-1DD1-4065-8BAB-05AF2797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652F5-D4B7-4F73-9A2C-13F5BA13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EC101-E622-4471-B75D-7BA8FDD2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1585A-BD11-4B47-96AA-7EBF568D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3154A-2CFA-4D2F-835B-A48F1606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5E711-5813-4D88-9CCE-C09DADFA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F1FEAF-5C0C-4CE2-911C-860D20E7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Iterations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51BE0-2B39-4DF7-B1F0-0D189878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6F982-800C-4E03-978A-BE959240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11043-8FDD-4244-B1BA-37EF707C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9471EE-06E4-4830-996B-401BA9BC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OpenScientist template walkthrough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77C84C-ED73-45CA-9399-290BD64D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880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EAAF3-E3FB-4106-BDC0-00F67DEA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9D983A-315D-4167-87A8-4C3AA62C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8E5A4D-098B-492F-A471-8D6E7928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STAGE 3 - EXAMPLE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950C1-C04A-4927-9772-7402B61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810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example gene set turns the template into a concrete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787A9-A77C-4A78-ABF7-50679D33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6238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form was filled with an interferon-stimulated gene set, a toy background, Homo sapiens, and Gene Ontology as the enrichment database.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F0C95-994D-4EBA-BA67-A85EEA6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48482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7e03bafe5429c"/>
          <a:srcRect xmlns:a="http://schemas.openxmlformats.org/drawingml/2006/main" l="0" t="23821" r="0" b="23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362200"/>
            <a:ext cx="4810125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5E9B1-EFD1-4375-99D2-2D71E5A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219DA-20F1-494F-A3F9-CC0822F8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672"/>
                </a:solidFill>
                <a:latin typeface="Aptos"/>
                <a:ea typeface="Aptos"/>
                <a:cs typeface="Aptos"/>
              </a:rPr>
              <a:t>Filled enrichment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47F5E-3DE8-4045-92B2-8E5596B9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619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0F6E7-4010-4061-9134-B644485A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EC595-9B42-42CD-9BC7-1B6C4676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4314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Generated research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2C21A-00FE-4B6E-AF67-9985B37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43148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Perform gene set enrichment analysis for interferon-stimulated response genes in Homo sapiens using the provided background gene set and GO enrichment. Report significant terms after multiple-test correction.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8A7E7-0804-4E3B-8C24-D76B57B0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619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DA7CF-6D3F-4540-A43F-16E7D18F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99075-A0EF-4C07-AC87-9720410F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00500"/>
            <a:ext cx="4314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E8276-EB28-42CC-87DB-9BFFACA7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67200"/>
            <a:ext cx="43148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user can edit the generated question, but the default now carries the structured inputs and the scientific guardrails forward into the job.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B0769-B674-4FBB-868F-4AEF5C99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435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6672"/>
                </a:solidFill>
                <a:latin typeface="Aptos Mono"/>
                <a:ea typeface="Aptos Mono"/>
                <a:cs typeface="Aptos Mono"/>
              </a:rPr>
              <a:t>Foreground sample: IFIT1, IFIT2, IFIT3, ISG15, MX1, OAS1, IRF7, STAT1, CXCL10, GBP1, USP18...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C19F1-1AB2-4207-81C8-E957328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869E9-EFBF-42D8-9707-7ACD18AA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Freeform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7D10F-C6AA-4493-AC46-5162A474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98BC9-76E8-43E8-BC4F-1EC79D53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44646-73A1-4144-98D9-69103E17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1DD54-F836-44B7-97F2-7BBCDC0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E4D7F-F891-4481-9106-D0D658A5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9809C-3195-4371-8257-E56EE072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F8373-41E3-4064-BCB3-48596D46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44F699-A2B7-44F0-9B51-FC385672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Iterations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595E8-EDD3-415C-AE51-33632C58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7C8BF9-F2DF-4E11-BB6D-1B95DE00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850DEB-E1B5-412C-9A60-3759EEE7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C7A496-324F-4BE9-8C6D-6CAF9C8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OpenScientist template walkthrough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56B4D5-E2EE-4E51-83B6-5C9176D8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66621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8249E-469A-4FEC-BA0B-2CD204A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88D4C54-78B4-4BFC-B113-65917F4B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6737793-C7A5-46E8-9A06-8703CFF5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STAGE 4 - ITERATION DEFAULT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24A33-F7FD-4C62-A70B-6F27FD52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5286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Workflow defaults reduce setup friction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ABE09-771F-4296-8C47-F6CC5FC9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After the walkthrough, Gene Set Enrichment was given a default of 2 iterations. Users can still override the number before starting discovery.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D0855-8390-4F51-ABA8-0871CAA0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6D55C-A772-442A-83FF-AA63BCEF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64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 Set Enrichment defaults to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CA7C0-E186-4612-B2F5-A6CA4CA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64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Enough for a quick deterministic analysis plus interpretation pass during local testing.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AF2B1-8574-41B1-9D8C-AF0F4300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1CD57-B6D6-4678-A727-747A7007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64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Longer workflows get higher defaults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74BB9-0136-4D77-9464-6C6FF74F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64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Evidence synthesis and simulation default to 4; microbiome and variant interpretation default to 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A38B-34DD-460F-B486-2DE163FD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4C99D-2C26-4091-BD93-7D9434C2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64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Manual edits are respected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86A8A-22A1-41DF-8282-34ADE88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64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Once the user edits Max Iterations, workflow switching no longer overwrites their choice.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39D32-644E-4E5D-AC1D-CC694B54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800100"/>
            <a:ext cx="37528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72bbcba134046"/>
          <a:srcRect xmlns:a="http://schemas.openxmlformats.org/drawingml/2006/main" l="682" t="0" r="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19150"/>
            <a:ext cx="3714750" cy="4629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9FD29-812E-44FE-9A9B-3EA6178D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245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4F3A4-3982-4192-9119-7E3E8A12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62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672"/>
                </a:solidFill>
                <a:latin typeface="Aptos"/>
                <a:ea typeface="Aptos"/>
                <a:cs typeface="Aptos"/>
              </a:rPr>
              <a:t>Template selection preloads Max Iterations =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1A6DC-A389-4A7B-AA5B-FF897942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C4A02-28D7-4C91-A4DD-891B137B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Freeform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9468B-24B4-4AA9-80C4-752C5D3F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91572-2CA3-45F9-B6AD-3120012B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8CDEC-D1F4-483D-B66B-66BDA58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8AFCB-6BA2-42C0-8166-B0F7321B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E03504-661F-4C3D-B934-695D6773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DCF0F-1D71-4ACF-9250-927F2F3F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06F8E-2743-4994-9AA5-97D5932B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ED03C-6305-41E1-B162-4B23147F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180B4-A3AC-413F-A8B9-7BBAC53A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E8D53-07DE-4BDB-9970-8BA759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038DF0-550E-4A69-8DE9-E67DC86B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FBAB3-A16F-4641-8AB4-AF163B91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OpenScientist template walkthrough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797F7-7F91-4EB5-A755-44088409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04352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C1E6C2-EAAC-4075-B3D4-28495B60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23E1251-8322-4CB7-B9BB-09C9228A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051E6B-FD57-4013-BFAC-C426D85A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STAGE 5 - JOB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9F9C-8AAD-443B-B6A6-BE1E6623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Starting discovery persists template metadata and opens the job detail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FF8ED-BF0D-4AF0-805B-8AF88051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38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creation path generated a normal job record with template fields attached, then navigated to the existing job detail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4E475-6AF5-4AD8-B379-B779055A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52292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b89a7a7684db3"/>
          <a:stretch xmlns:a="http://schemas.openxmlformats.org/drawingml/2006/main"/>
        </p:blipFill>
        <p:spPr>
          <a:xfrm xmlns:a="http://schemas.openxmlformats.org/drawingml/2006/main">
            <a:off x="1102735" y="2352675"/>
            <a:ext cx="4052455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B834A-27FE-4911-80CA-6BA7A10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13161-4AA7-41E2-9808-3BDCFADE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672"/>
                </a:solidFill>
                <a:latin typeface="Aptos"/>
                <a:ea typeface="Aptos"/>
                <a:cs typeface="Aptos"/>
              </a:rPr>
              <a:t>Job detail after Start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AF34B-787B-4DDF-B460-5D6EA59F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5A538-3A42-4D90-8689-F7146BC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F987C-F691-4722-8193-BA4DB26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3790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Persisted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7FD57-C029-4CC9-B9D6-02A9B174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3790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job_id 23564342-33fd-4b27-8a4f-fc5f45356649</a:t>
            </a:r>
          </a:p>
          <a:p xmlns:a="http://schemas.openxmlformats.org/drawingml/2006/main">
            <a:pPr algn="l">
              <a:defRPr sz="93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status pending</a:t>
            </a:r>
          </a:p>
          <a:p xmlns:a="http://schemas.openxmlformats.org/drawingml/2006/main">
            <a:pPr algn="l">
              <a:defRPr sz="93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current_iteration 1 / max_iterations 2</a:t>
            </a:r>
          </a:p>
          <a:p xmlns:a="http://schemas.openxmlformats.org/drawingml/2006/main">
            <a:pPr algn="l">
              <a:defRPr sz="93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template_id gene-set-enrichment</a:t>
            </a:r>
          </a:p>
          <a:p xmlns:a="http://schemas.openxmlformats.org/drawingml/2006/main">
            <a:pPr algn="l">
              <a:defRPr sz="93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template_version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2CBB8-F676-406D-96DA-6866315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48125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C4AC3-BC90-40EE-8681-85DB6C8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48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69B45-5EEE-48A1-AA12-9211B0DB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81475"/>
            <a:ext cx="3790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runtime caveat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D701A-F7B8-49B0-B8EF-9E82CF9D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48175"/>
            <a:ext cx="3790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UI and database handoff worked. The background execution did not advance locally because the app process could not reach the Docker socket used by the job container runner.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7025D-5268-45E7-9FBC-4C5A976D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1E720-563A-45F7-BF13-5CD8CAB2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Freeform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FFBA1-4F2E-4231-B925-F11F1B95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09A93-980C-4340-8DF3-957F0719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3A62E-0896-4229-A0CD-18FD745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3A9C3-68FF-46DD-83DA-68670F05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515CF-0CFD-41E6-8DEE-1D8A59B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8F754-CEDC-45CF-9A37-9BC66107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AEB97-1C24-4C79-820A-1F9DC263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E2115-08C9-4125-AA07-9B421BEB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Iterations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DC8CF6-F2AB-4A64-9D17-08C0727D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055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52AD8-FAA4-4C57-9B72-608D2FD6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817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342DBF-A38F-4995-A8A7-78D25751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B994A2-98A5-4884-900E-A93BE844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OpenScientist template walkthrough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1EF5FD-D5B4-446A-AEC2-F4AE1668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14423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A86B7-EB85-4F58-B196-A37007C2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50BB74-A7B9-44E6-B7FB-725D6F35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D8F680-5464-43DC-B8E0-9CBEEC1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IMPLEMENTATION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5991A-E86E-425A-8ED5-6AFAB87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Behind the screenshots, templates now travel through the full job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09C25-29E4-42A9-B459-AAE7C5F5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715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product flow is backed by server-side validation, persisted metadata, prompt guidance, and template-aware skill selection.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14C1C-7788-47F5-A97B-6C288390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5E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2C584-7575-4286-AFDC-5ACD8FE9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440DC-947F-44AE-A42B-DE6ECFC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Template registry</a:t>
            </a:r>
          </a:p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fields, defaults, guardrails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AB1C9-986C-42F3-AAF7-B9518638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765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ABFEF-1A34-43DD-B914-65B7BFE1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28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C969D-D895-4F6B-B55B-7A59B642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762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7E1A2-F867-49F4-BDD7-13734E89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762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AEB60-8793-4213-931D-61C0C518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05125"/>
            <a:ext cx="1495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New Job UI</a:t>
            </a:r>
          </a:p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dynamic fields and generated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45168-56F2-4A04-BDFC-124FE38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765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F2FB5-2DFD-4B8E-9D3F-5A1DADEA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28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9D759-2F97-4C5D-B762-1611E0B7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71750"/>
            <a:ext cx="1714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F3B2A-E7CA-40AF-A757-6AFE0FBD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717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2CBB7-AE27-48D1-A1DA-4FD6FF2F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05125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+ validation</a:t>
            </a:r>
          </a:p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structured inputs normalized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5609C-0093-41F5-B492-1EA7306C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765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69771-7E11-43EC-9CEC-E8228B6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EE975-9F1B-4423-9FD9-AA64A54E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B03A3-4922-45F3-8EC3-4DF976C0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11AA3-6603-4813-84E9-DE38F4B7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05125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Database</a:t>
            </a:r>
          </a:p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id, version, inputs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4613D-8D26-42F5-8FF8-6FAB2C8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0765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DB2FC-2CB5-49A6-A089-225B7EB1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28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5633C-2F0A-4B47-BAAA-B77FB867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71750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8043C-8EB0-4BAE-94D5-CB74EE99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717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62AD5-B329-41E4-BAF7-C32ADB2F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9051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Orchestrator</a:t>
            </a:r>
          </a:p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prompt and skill guidance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7C0D0-22FF-4276-A786-C712203B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5A274-6F7A-4856-95E1-3DCFCFF1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this improves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1A9686-CE53-482E-82E6-134E1178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Users get a scientifically scoped starting point; agents receive method guardrails; the system still stores a plain research question for compatibility.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CD2904-F036-4DD9-A3C9-2F7EDF11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FA187-B0D6-42DC-B83F-FBBBEB97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local run surfaced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D0BCDA-9F99-4D5E-A6F4-B9D1474B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2"/>
                </a:solidFill>
                <a:latin typeface="Aptos"/>
                <a:ea typeface="Aptos"/>
                <a:cs typeface="Aptos"/>
              </a:rPr>
              <a:t>The page-level flow works. Next polish areas are Docker socket setup for local execution and the fixed-header overlap visible in full-page captures.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8A6F4C-A54E-459C-A4F3-1658151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D83061-146D-4B39-B31B-AD296D21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OpenScientist template walkthrough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868599-D0FD-4249-B8A5-ADF11784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49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49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2564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2026-05-18T18:51:37.3240000Z</dcterms:created>
  <dcterms:modified xsi:type="dcterms:W3CDTF">2026-05-18T18:51:37.3240000Z</dcterms:modified>
</coreProperties>
</file>